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heme/theme2.xml" ContentType="application/vnd.openxmlformats-officedocument.them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8" r:id="rId9"/>
    <p:sldId id="267" r:id="rId10"/>
    <p:sldId id="266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73" y="7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ard_3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2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9144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Item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144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5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6736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Item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6736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8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432800" y="2082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Item 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432800" y="2641600"/>
            <a:ext cx="2844800" cy="3048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chart_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6387" hasCustomPrompt="1"/>
            <p:custDataLst>
              <p:tags r:id="rId2"/>
            </p:custDataLst>
          </p:nvPr>
        </p:nvSpPr>
        <p:spPr>
          <a:xfrm>
            <a:off x="609600" y="2590800"/>
            <a:ext cx="3556000" cy="1752600"/>
          </a:xfrm>
          <a:custGeom>
            <a:avLst/>
            <a:gdLst>
              <a:gd name="connisteX0" fmla="*/ 0 w 3556000"/>
              <a:gd name="connsiteY0" fmla="*/ 203200 h 1752600"/>
              <a:gd name="connisteX1" fmla="*/ 203200 w 3556000"/>
              <a:gd name="connsiteY1" fmla="*/ 0 h 1752600"/>
              <a:gd name="connisteX2" fmla="*/ 3352800 w 3556000"/>
              <a:gd name="connsiteY2" fmla="*/ 0 h 1752600"/>
              <a:gd name="connisteX3" fmla="*/ 3556000 w 3556000"/>
              <a:gd name="connsiteY3" fmla="*/ 203200 h 1752600"/>
              <a:gd name="connisteX4" fmla="*/ 3556000 w 3556000"/>
              <a:gd name="connsiteY4" fmla="*/ 1549400 h 1752600"/>
              <a:gd name="connisteX5" fmla="*/ 3352800 w 3556000"/>
              <a:gd name="connsiteY5" fmla="*/ 1752600 h 1752600"/>
              <a:gd name="connisteX6" fmla="*/ 203200 w 3556000"/>
              <a:gd name="connsiteY6" fmla="*/ 1752600 h 1752600"/>
              <a:gd name="connisteX7" fmla="*/ 0 w 3556000"/>
              <a:gd name="connsiteY7" fmla="*/ 1549400 h 1752600"/>
              <a:gd name="connisteX8" fmla="*/ 0 w 3556000"/>
              <a:gd name="connsiteY8" fmla="*/ 203200 h 175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1752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49400"/>
                </a:lnTo>
                <a:cubicBezTo>
                  <a:pt x="3556000" y="1661624"/>
                  <a:pt x="3465024" y="1752600"/>
                  <a:pt x="3352800" y="1752600"/>
                </a:cubicBezTo>
                <a:lnTo>
                  <a:pt x="203200" y="1752600"/>
                </a:lnTo>
                <a:cubicBezTo>
                  <a:pt x="90976" y="1752600"/>
                  <a:pt x="0" y="1661624"/>
                  <a:pt x="0" y="1549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6388" hasCustomPrompt="1"/>
            <p:custDataLst>
              <p:tags r:id="rId3"/>
            </p:custDataLst>
          </p:nvPr>
        </p:nvSpPr>
        <p:spPr>
          <a:xfrm>
            <a:off x="4318000" y="2590800"/>
            <a:ext cx="3556000" cy="1752600"/>
          </a:xfrm>
          <a:custGeom>
            <a:avLst/>
            <a:gdLst>
              <a:gd name="connisteX0" fmla="*/ 0 w 3556000"/>
              <a:gd name="connsiteY0" fmla="*/ 203200 h 1752600"/>
              <a:gd name="connisteX1" fmla="*/ 203200 w 3556000"/>
              <a:gd name="connsiteY1" fmla="*/ 0 h 1752600"/>
              <a:gd name="connisteX2" fmla="*/ 3352800 w 3556000"/>
              <a:gd name="connsiteY2" fmla="*/ 0 h 1752600"/>
              <a:gd name="connisteX3" fmla="*/ 3556000 w 3556000"/>
              <a:gd name="connsiteY3" fmla="*/ 203200 h 1752600"/>
              <a:gd name="connisteX4" fmla="*/ 3556000 w 3556000"/>
              <a:gd name="connsiteY4" fmla="*/ 1549400 h 1752600"/>
              <a:gd name="connisteX5" fmla="*/ 3352800 w 3556000"/>
              <a:gd name="connsiteY5" fmla="*/ 1752600 h 1752600"/>
              <a:gd name="connisteX6" fmla="*/ 203200 w 3556000"/>
              <a:gd name="connsiteY6" fmla="*/ 1752600 h 1752600"/>
              <a:gd name="connisteX7" fmla="*/ 0 w 3556000"/>
              <a:gd name="connsiteY7" fmla="*/ 1549400 h 1752600"/>
              <a:gd name="connisteX8" fmla="*/ 0 w 3556000"/>
              <a:gd name="connsiteY8" fmla="*/ 203200 h 175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1752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49400"/>
                </a:lnTo>
                <a:cubicBezTo>
                  <a:pt x="3556000" y="1661624"/>
                  <a:pt x="3465024" y="1752600"/>
                  <a:pt x="3352800" y="1752600"/>
                </a:cubicBezTo>
                <a:lnTo>
                  <a:pt x="203200" y="1752600"/>
                </a:lnTo>
                <a:cubicBezTo>
                  <a:pt x="90976" y="1752600"/>
                  <a:pt x="0" y="1661624"/>
                  <a:pt x="0" y="1549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6389" hasCustomPrompt="1"/>
            <p:custDataLst>
              <p:tags r:id="rId4"/>
            </p:custDataLst>
          </p:nvPr>
        </p:nvSpPr>
        <p:spPr>
          <a:xfrm>
            <a:off x="8026400" y="2590800"/>
            <a:ext cx="3556000" cy="1752600"/>
          </a:xfrm>
          <a:custGeom>
            <a:avLst/>
            <a:gdLst>
              <a:gd name="connisteX0" fmla="*/ 0 w 3556000"/>
              <a:gd name="connsiteY0" fmla="*/ 203200 h 1752600"/>
              <a:gd name="connisteX1" fmla="*/ 203200 w 3556000"/>
              <a:gd name="connsiteY1" fmla="*/ 0 h 1752600"/>
              <a:gd name="connisteX2" fmla="*/ 3352800 w 3556000"/>
              <a:gd name="connsiteY2" fmla="*/ 0 h 1752600"/>
              <a:gd name="connisteX3" fmla="*/ 3556000 w 3556000"/>
              <a:gd name="connsiteY3" fmla="*/ 203200 h 1752600"/>
              <a:gd name="connisteX4" fmla="*/ 3556000 w 3556000"/>
              <a:gd name="connsiteY4" fmla="*/ 1549400 h 1752600"/>
              <a:gd name="connisteX5" fmla="*/ 3352800 w 3556000"/>
              <a:gd name="connsiteY5" fmla="*/ 1752600 h 1752600"/>
              <a:gd name="connisteX6" fmla="*/ 203200 w 3556000"/>
              <a:gd name="connsiteY6" fmla="*/ 1752600 h 1752600"/>
              <a:gd name="connisteX7" fmla="*/ 0 w 3556000"/>
              <a:gd name="connsiteY7" fmla="*/ 1549400 h 1752600"/>
              <a:gd name="connisteX8" fmla="*/ 0 w 3556000"/>
              <a:gd name="connsiteY8" fmla="*/ 203200 h 175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1752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49400"/>
                </a:lnTo>
                <a:cubicBezTo>
                  <a:pt x="3556000" y="1661624"/>
                  <a:pt x="3465024" y="1752600"/>
                  <a:pt x="3352800" y="1752600"/>
                </a:cubicBezTo>
                <a:lnTo>
                  <a:pt x="203200" y="1752600"/>
                </a:lnTo>
                <a:cubicBezTo>
                  <a:pt x="90976" y="1752600"/>
                  <a:pt x="0" y="1661624"/>
                  <a:pt x="0" y="1549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4495800"/>
            <a:ext cx="3556000" cy="1752600"/>
          </a:xfrm>
          <a:custGeom>
            <a:avLst/>
            <a:gdLst>
              <a:gd name="connisteX0" fmla="*/ 0 w 3556000"/>
              <a:gd name="connsiteY0" fmla="*/ 203200 h 1752600"/>
              <a:gd name="connisteX1" fmla="*/ 203200 w 3556000"/>
              <a:gd name="connsiteY1" fmla="*/ 0 h 1752600"/>
              <a:gd name="connisteX2" fmla="*/ 3352800 w 3556000"/>
              <a:gd name="connsiteY2" fmla="*/ 0 h 1752600"/>
              <a:gd name="connisteX3" fmla="*/ 3556000 w 3556000"/>
              <a:gd name="connsiteY3" fmla="*/ 203200 h 1752600"/>
              <a:gd name="connisteX4" fmla="*/ 3556000 w 3556000"/>
              <a:gd name="connsiteY4" fmla="*/ 1549400 h 1752600"/>
              <a:gd name="connisteX5" fmla="*/ 3352800 w 3556000"/>
              <a:gd name="connsiteY5" fmla="*/ 1752600 h 1752600"/>
              <a:gd name="connisteX6" fmla="*/ 203200 w 3556000"/>
              <a:gd name="connsiteY6" fmla="*/ 1752600 h 1752600"/>
              <a:gd name="connisteX7" fmla="*/ 0 w 3556000"/>
              <a:gd name="connsiteY7" fmla="*/ 1549400 h 1752600"/>
              <a:gd name="connisteX8" fmla="*/ 0 w 3556000"/>
              <a:gd name="connsiteY8" fmla="*/ 203200 h 175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1752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49400"/>
                </a:lnTo>
                <a:cubicBezTo>
                  <a:pt x="3556000" y="1661624"/>
                  <a:pt x="3465024" y="1752600"/>
                  <a:pt x="3352800" y="1752600"/>
                </a:cubicBezTo>
                <a:lnTo>
                  <a:pt x="203200" y="1752600"/>
                </a:lnTo>
                <a:cubicBezTo>
                  <a:pt x="90976" y="1752600"/>
                  <a:pt x="0" y="1661624"/>
                  <a:pt x="0" y="1549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4318000" y="4495800"/>
            <a:ext cx="3556000" cy="1752600"/>
          </a:xfrm>
          <a:custGeom>
            <a:avLst/>
            <a:gdLst>
              <a:gd name="connisteX0" fmla="*/ 0 w 3556000"/>
              <a:gd name="connsiteY0" fmla="*/ 203200 h 1752600"/>
              <a:gd name="connisteX1" fmla="*/ 203200 w 3556000"/>
              <a:gd name="connsiteY1" fmla="*/ 0 h 1752600"/>
              <a:gd name="connisteX2" fmla="*/ 3352800 w 3556000"/>
              <a:gd name="connsiteY2" fmla="*/ 0 h 1752600"/>
              <a:gd name="connisteX3" fmla="*/ 3556000 w 3556000"/>
              <a:gd name="connsiteY3" fmla="*/ 203200 h 1752600"/>
              <a:gd name="connisteX4" fmla="*/ 3556000 w 3556000"/>
              <a:gd name="connsiteY4" fmla="*/ 1549400 h 1752600"/>
              <a:gd name="connisteX5" fmla="*/ 3352800 w 3556000"/>
              <a:gd name="connsiteY5" fmla="*/ 1752600 h 1752600"/>
              <a:gd name="connisteX6" fmla="*/ 203200 w 3556000"/>
              <a:gd name="connsiteY6" fmla="*/ 1752600 h 1752600"/>
              <a:gd name="connisteX7" fmla="*/ 0 w 3556000"/>
              <a:gd name="connsiteY7" fmla="*/ 1549400 h 1752600"/>
              <a:gd name="connisteX8" fmla="*/ 0 w 3556000"/>
              <a:gd name="connsiteY8" fmla="*/ 203200 h 175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1752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49400"/>
                </a:lnTo>
                <a:cubicBezTo>
                  <a:pt x="3556000" y="1661624"/>
                  <a:pt x="3465024" y="1752600"/>
                  <a:pt x="3352800" y="1752600"/>
                </a:cubicBezTo>
                <a:lnTo>
                  <a:pt x="203200" y="1752600"/>
                </a:lnTo>
                <a:cubicBezTo>
                  <a:pt x="90976" y="1752600"/>
                  <a:pt x="0" y="1661624"/>
                  <a:pt x="0" y="1549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16392" hasCustomPrompt="1"/>
            <p:custDataLst>
              <p:tags r:id="rId7"/>
            </p:custDataLst>
          </p:nvPr>
        </p:nvSpPr>
        <p:spPr>
          <a:xfrm>
            <a:off x="8026400" y="4495800"/>
            <a:ext cx="3556000" cy="1752600"/>
          </a:xfrm>
          <a:custGeom>
            <a:avLst/>
            <a:gdLst>
              <a:gd name="connisteX0" fmla="*/ 0 w 3556000"/>
              <a:gd name="connsiteY0" fmla="*/ 203200 h 1752600"/>
              <a:gd name="connisteX1" fmla="*/ 203200 w 3556000"/>
              <a:gd name="connsiteY1" fmla="*/ 0 h 1752600"/>
              <a:gd name="connisteX2" fmla="*/ 3352800 w 3556000"/>
              <a:gd name="connsiteY2" fmla="*/ 0 h 1752600"/>
              <a:gd name="connisteX3" fmla="*/ 3556000 w 3556000"/>
              <a:gd name="connsiteY3" fmla="*/ 203200 h 1752600"/>
              <a:gd name="connisteX4" fmla="*/ 3556000 w 3556000"/>
              <a:gd name="connsiteY4" fmla="*/ 1549400 h 1752600"/>
              <a:gd name="connisteX5" fmla="*/ 3352800 w 3556000"/>
              <a:gd name="connsiteY5" fmla="*/ 1752600 h 1752600"/>
              <a:gd name="connisteX6" fmla="*/ 203200 w 3556000"/>
              <a:gd name="connsiteY6" fmla="*/ 1752600 h 1752600"/>
              <a:gd name="connisteX7" fmla="*/ 0 w 3556000"/>
              <a:gd name="connsiteY7" fmla="*/ 1549400 h 1752600"/>
              <a:gd name="connisteX8" fmla="*/ 0 w 3556000"/>
              <a:gd name="connsiteY8" fmla="*/ 203200 h 1752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556000" h="1752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549400"/>
                </a:lnTo>
                <a:cubicBezTo>
                  <a:pt x="3556000" y="1661624"/>
                  <a:pt x="3465024" y="1752600"/>
                  <a:pt x="3352800" y="1752600"/>
                </a:cubicBezTo>
                <a:lnTo>
                  <a:pt x="203200" y="1752600"/>
                </a:lnTo>
                <a:cubicBezTo>
                  <a:pt x="90976" y="1752600"/>
                  <a:pt x="0" y="1661624"/>
                  <a:pt x="0" y="1549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1524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3" Type="http://schemas.openxmlformats.org/officeDocument/2006/relationships/tags" Target="../tags/tag111.xml"/><Relationship Id="rId7" Type="http://schemas.openxmlformats.org/officeDocument/2006/relationships/tags" Target="../tags/tag115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9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2474" y="578498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889812" y="836975"/>
            <a:ext cx="8412376" cy="1762048"/>
          </a:xfrm>
        </p:spPr>
        <p:txBody>
          <a:bodyPr>
            <a:noAutofit/>
          </a:bodyPr>
          <a:lstStyle/>
          <a:p>
            <a:r>
              <a:rPr lang="en-US" altLang="en-US" sz="3200" b="1" dirty="0">
                <a:latin typeface="Times New Roman" panose="02020603050405020304" charset="0"/>
                <a:cs typeface="Times New Roman" panose="02020603050405020304" charset="0"/>
              </a:rPr>
              <a:t>GNN-BASED STABLE CLUSTERING FOR INTELLIGENT VEHICULAR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6340" y="3062773"/>
            <a:ext cx="9799320" cy="3283585"/>
          </a:xfrm>
        </p:spPr>
        <p:txBody>
          <a:bodyPr/>
          <a:lstStyle/>
          <a:p>
            <a:pPr algn="l"/>
            <a:r>
              <a:rPr lang="en-I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Team Members</a:t>
            </a:r>
            <a:r>
              <a:rPr lang="en-I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Tejavath Sindu, Sunkari Akshar, Rohan Adithya Kompelli, Bhukya Sravitha</a:t>
            </a:r>
          </a:p>
          <a:p>
            <a:pPr algn="l"/>
            <a:r>
              <a:rPr lang="en-I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Supervisor</a:t>
            </a:r>
            <a:r>
              <a:rPr lang="en-I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V.Prashanthi</a:t>
            </a:r>
          </a:p>
          <a:p>
            <a:pPr algn="l"/>
            <a:r>
              <a:rPr lang="en-I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CSE(AI&amp;ML),KITS Warangal</a:t>
            </a:r>
          </a:p>
          <a:p>
            <a:pPr algn="l"/>
            <a:r>
              <a:rPr lang="en-I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Academic Year: 2026-27</a:t>
            </a:r>
          </a:p>
          <a:p>
            <a:pPr algn="l"/>
            <a:r>
              <a:rPr lang="en-I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Phase-1 Major Project Presentation</a:t>
            </a:r>
          </a:p>
          <a:p>
            <a:pPr algn="l"/>
            <a:r>
              <a:rPr lang="en-I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UG Major Project</a:t>
            </a:r>
            <a:r>
              <a:rPr lang="en-I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Batch No.14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A0F0AE-6387-B296-E2B0-A5858A13CAE6}"/>
              </a:ext>
            </a:extLst>
          </p:cNvPr>
          <p:cNvSpPr/>
          <p:nvPr/>
        </p:nvSpPr>
        <p:spPr>
          <a:xfrm>
            <a:off x="662474" y="578498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1511135" y="1472400"/>
            <a:ext cx="3329118" cy="381600"/>
          </a:xfrm>
        </p:spPr>
        <p:txBody>
          <a:bodyPr>
            <a:noAutofit/>
          </a:bodyPr>
          <a:lstStyle/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is this a problem?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1007706" y="1980660"/>
            <a:ext cx="5088294" cy="43956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Vehicles continuously move, causing their communication connections with nearby vehicles to change frequently.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Due to changing connections, clusters can break and Cluster Heads (CHs) may need to change frequently, leading to repeated re-clustering.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cluster changes create extra communication overhead and can reduce the reliability of vehicle-to-vehicle communication.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7676759" y="1421486"/>
            <a:ext cx="2460381" cy="381600"/>
          </a:xfrm>
        </p:spPr>
        <p:txBody>
          <a:bodyPr/>
          <a:lstStyle/>
          <a:p>
            <a:r>
              <a:rPr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Research Gap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522098" y="1854000"/>
            <a:ext cx="4777273" cy="43956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mainly use fixed rules like speed and distance. But in real life, vehicles are continuously moving, so their relationships keep changing.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are investigating GNNs because they can learn the relationships between vehicles and help improve cluster stability.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609600" y="400685"/>
            <a:ext cx="10972800" cy="609600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to the Proposed Approach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装饰  6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818359" y="1784642"/>
            <a:ext cx="3036881" cy="688392"/>
          </a:xfrm>
        </p:spPr>
        <p:txBody>
          <a:bodyPr>
            <a:no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Graph Representation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788670" y="2733675"/>
            <a:ext cx="2844800" cy="18326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vehicles as nodes and their communication relationships as edges.</a:t>
            </a:r>
          </a:p>
        </p:txBody>
      </p:sp>
      <p:sp>
        <p:nvSpPr>
          <p:cNvPr id="6" name="装饰  9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6388"/>
            <p:custDataLst>
              <p:tags r:id="rId7"/>
            </p:custDataLst>
          </p:nvPr>
        </p:nvSpPr>
        <p:spPr>
          <a:xfrm>
            <a:off x="4673600" y="1813878"/>
            <a:ext cx="2844800" cy="406400"/>
          </a:xfrm>
        </p:spPr>
        <p:txBody>
          <a:bodyPr>
            <a:normAutofit fontScale="97500"/>
          </a:bodyPr>
          <a:lstStyle/>
          <a:p>
            <a:r>
              <a:rPr lang="en-US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GNN-Based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4673600" y="2733675"/>
            <a:ext cx="2844800" cy="277304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Graph Neural Network (GNN) to learn the changing relationships between vehicles.</a:t>
            </a:r>
          </a:p>
        </p:txBody>
      </p:sp>
      <p:sp>
        <p:nvSpPr>
          <p:cNvPr id="9" name="装饰  2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390"/>
            <p:custDataLst>
              <p:tags r:id="rId10"/>
            </p:custDataLst>
          </p:nvPr>
        </p:nvSpPr>
        <p:spPr>
          <a:xfrm>
            <a:off x="8432800" y="1813878"/>
            <a:ext cx="2844800" cy="40640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Clustering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8432800" y="2733675"/>
            <a:ext cx="2844800" cy="2052929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learned information to form more stable clusters and reduce unnecessary Cluster Head changes.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330" y="608330"/>
            <a:ext cx="10968990" cy="637540"/>
          </a:xfrm>
        </p:spPr>
        <p:txBody>
          <a:bodyPr>
            <a:no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Key 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2271669" y="1417505"/>
            <a:ext cx="2239457" cy="381600"/>
          </a:xfrm>
        </p:spPr>
        <p:txBody>
          <a:bodyPr>
            <a:no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&amp; Learn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26545" y="2005627"/>
            <a:ext cx="5129706" cy="39099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  <a:defRPr sz="1250">
                <a:solidFill>
                  <a:srgbClr val="2D3238"/>
                </a:solidFill>
                <a:latin typeface="Aptos"/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Build a GNN-based clustering framework for dynamic vehicular networks.</a:t>
            </a:r>
          </a:p>
          <a:p>
            <a:pPr>
              <a:buFont typeface="Arial" panose="020B0604020202020204" pitchFamily="34" charset="0"/>
              <a:buChar char="•"/>
              <a:defRPr sz="1250">
                <a:solidFill>
                  <a:srgbClr val="2D3238"/>
                </a:solidFill>
                <a:latin typeface="Aptos"/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Represent vehicles and their relationships as a dynamic graph.</a:t>
            </a:r>
          </a:p>
          <a:p>
            <a:pPr>
              <a:buFont typeface="Arial" panose="020B0604020202020204" pitchFamily="34" charset="0"/>
              <a:buChar char="•"/>
              <a:defRPr sz="1250">
                <a:solidFill>
                  <a:srgbClr val="2D3238"/>
                </a:solidFill>
                <a:latin typeface="Aptos"/>
              </a:defRPr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Learn useful vehicle representations from </a:t>
            </a:r>
            <a:r>
              <a:rPr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neighbouring</a:t>
            </a: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nodes.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7297106" y="1417505"/>
            <a:ext cx="2940909" cy="381600"/>
          </a:xfrm>
        </p:spPr>
        <p:txBody>
          <a:bodyPr>
            <a:noAutofit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Stabilize &amp; Evaluate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1" y="2005627"/>
            <a:ext cx="5063621" cy="401261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Improve cluster lifetime and stability.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Reduce unnecessary Cluster Head changes and re-clustering.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Compare against suitable baseline methods using measurable stability metrics.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Expected Outcomes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03780" y="1314000"/>
            <a:ext cx="10378440" cy="474156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Cluster Stability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lifetime of vehicle clusters even when vehicles are moving.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Cluster Head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unnecessary Cluster Head (CH) changes and repeated re-clustering.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Communication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extra communication required for cluster formation and maintenance.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Better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Maintain useful vehicle relationships for longer.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Challenges in Existing Systems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6387"/>
            <p:custDataLst>
              <p:tags r:id="rId3"/>
            </p:custDataLst>
          </p:nvPr>
        </p:nvSpPr>
        <p:spPr>
          <a:xfrm>
            <a:off x="609600" y="1790065"/>
            <a:ext cx="3556000" cy="1814830"/>
          </a:xfrm>
          <a:solidFill>
            <a:schemeClr val="bg2">
              <a:lumMod val="25000"/>
            </a:schemeClr>
          </a:solidFill>
        </p:spPr>
        <p:txBody>
          <a:bodyPr>
            <a:noAutofit/>
          </a:bodyPr>
          <a:lstStyle/>
          <a:p>
            <a:pPr marL="3657600" lvl="8" indent="0" algn="ctr">
              <a:buNone/>
            </a:pPr>
            <a:r>
              <a:rPr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Dynamic Topology</a:t>
            </a:r>
            <a:endParaRPr lang="en-IN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57600" lvl="8" indent="0" algn="ctr">
              <a:buNone/>
            </a:pPr>
            <a:endParaRPr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Vehicle positions and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neighbors change continuously.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6388"/>
            <p:custDataLst>
              <p:tags r:id="rId4"/>
            </p:custDataLst>
          </p:nvPr>
        </p:nvSpPr>
        <p:spPr>
          <a:xfrm>
            <a:off x="4318000" y="1790065"/>
            <a:ext cx="3556000" cy="1814830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marL="3200400" lvl="7" indent="0" algn="ctr">
              <a:buNone/>
            </a:pP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Frequent CH Changes</a:t>
            </a:r>
            <a:endParaRPr lang="en-IN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200400" lvl="7" indent="0" algn="ctr">
              <a:buNone/>
            </a:pPr>
            <a:endParaRPr lang="en-IN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cluster may become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invalid as vehicles move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apart.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IN" alt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6389"/>
            <p:custDataLst>
              <p:tags r:id="rId5"/>
            </p:custDataLst>
          </p:nvPr>
        </p:nvSpPr>
        <p:spPr>
          <a:xfrm>
            <a:off x="8026400" y="1790065"/>
            <a:ext cx="3556000" cy="1814830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marL="3657600" lvl="8" indent="0" algn="ctr">
              <a:buNone/>
            </a:pP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Rule Dependence</a:t>
            </a:r>
            <a:endParaRPr lang="en-IN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57600" lvl="8" indent="0" algn="ctr">
              <a:buNone/>
            </a:pPr>
            <a:endParaRPr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Fixed thresholds and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hand-designed weights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may not adapt well.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6390"/>
            <p:custDataLst>
              <p:tags r:id="rId6"/>
            </p:custDataLst>
          </p:nvPr>
        </p:nvSpPr>
        <p:spPr>
          <a:xfrm>
            <a:off x="609600" y="4316665"/>
            <a:ext cx="3556000" cy="1996440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pPr marL="3657600" lvl="8" indent="0" algn="ctr">
              <a:buNone/>
            </a:pPr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Communication Overhead</a:t>
            </a:r>
            <a:endParaRPr lang="en-IN"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57600" lvl="8" indent="0" algn="ctr">
              <a:buNone/>
            </a:pPr>
            <a:endParaRPr sz="16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Repeated maintenance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creates additional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control messages.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6391"/>
            <p:custDataLst>
              <p:tags r:id="rId7"/>
            </p:custDataLst>
          </p:nvPr>
        </p:nvSpPr>
        <p:spPr>
          <a:xfrm>
            <a:off x="4318000" y="4316665"/>
            <a:ext cx="3556000" cy="1995805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Complex Relationships</a:t>
            </a: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Simple pairwise metrics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may miss wider neighborhood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structure.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6392"/>
            <p:custDataLst>
              <p:tags r:id="rId8"/>
            </p:custDataLst>
          </p:nvPr>
        </p:nvSpPr>
        <p:spPr>
          <a:xfrm>
            <a:off x="8026400" y="4252595"/>
            <a:ext cx="3556000" cy="1995805"/>
          </a:xfrm>
          <a:solidFill>
            <a:schemeClr val="tx1">
              <a:lumMod val="75000"/>
              <a:lumOff val="25000"/>
            </a:schemeClr>
          </a:solidFill>
        </p:spPr>
        <p:txBody>
          <a:bodyPr>
            <a:noAutofit/>
          </a:bodyPr>
          <a:lstStyle/>
          <a:p>
            <a:r>
              <a:rPr sz="16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Variable Traffic</a:t>
            </a: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Performance can change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 density, speed and </a:t>
            </a:r>
            <a:endParaRPr lang="en-IN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/>
            <a:r>
              <a:rPr sz="16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mobility patterns.</a:t>
            </a:r>
          </a:p>
          <a:p>
            <a:pPr marL="285750" indent="-285750">
              <a:buFont typeface="Wingdings" panose="05000000000000000000" charset="0"/>
              <a:buChar char="§"/>
            </a:pPr>
            <a:endParaRPr lang="en-US" sz="16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Advantages of the Proposed GNN Approach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Vehicle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 can learn information from a vehicle’s neighbors and connections, rather than </a:t>
            </a:r>
            <a:r>
              <a:rPr lang="en-I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depending only on fixed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Cluster 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learned information can help form more stable clusters and reduce unnecessary Cluster Head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Adapts to Dynamic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 is suitable for vehicular networks because it can work with the changing relationships between moving vehicles.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Novelty and Impact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94385" y="1608455"/>
            <a:ext cx="8435975" cy="33318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GNN-Based Clustering – Learns relationships between moving vehicles.</a:t>
            </a:r>
          </a:p>
          <a:p>
            <a:pPr indent="0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Cluster Stability – Aims to increase cluster lifetime. </a:t>
            </a:r>
          </a:p>
          <a:p>
            <a:pPr>
              <a:buAutoNum type="arabicPeriod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CH Changes – Minimizes unnecessary Cluster Head changes.</a:t>
            </a:r>
          </a:p>
          <a:p>
            <a:pPr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Communication Overhead – Reduces repeated re-clustering. </a:t>
            </a:r>
          </a:p>
          <a:p>
            <a:pPr>
              <a:buAutoNum type="arabicPeriod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1400" y="545070"/>
            <a:ext cx="10969200" cy="705600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Methodology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0919" y="1218545"/>
            <a:ext cx="10969200" cy="508367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vehicle information like speed, position and direction.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 Construction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vehicles as nodes and their connections as edges.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GNN Learning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GNN to learn relationships between vehicles.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Formation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vehicles into stable clusters and select Cluster Heads.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Stability Evaluation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cluster lifetime, CH changes and communication overhead.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0" y="686180"/>
            <a:ext cx="11194825" cy="705600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 Flowchart &amp; Evaluation Plan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53000" y="1532889"/>
            <a:ext cx="5080000" cy="4149453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Mobility Data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&amp; Feature Selection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Graph Construction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GNN /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GraphSAGE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Formation &amp; Cluster Head Selection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Stability Evaluation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↓</a:t>
            </a:r>
          </a:p>
          <a:p>
            <a:pPr algn="ctr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Methods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C13C8-4A5F-EC78-4FF2-579710665E9B}"/>
              </a:ext>
            </a:extLst>
          </p:cNvPr>
          <p:cNvSpPr/>
          <p:nvPr/>
        </p:nvSpPr>
        <p:spPr>
          <a:xfrm>
            <a:off x="660919" y="545070"/>
            <a:ext cx="10870163" cy="57678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Phase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58416" y="1490400"/>
            <a:ext cx="10431625" cy="444386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Prepare Data – Obtain vehicle mobility data and preprocess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Dynamic Graph – Represent vehicles and their changing connections as a graph.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GNN Model – Implement and train the GNN for vehicle relationship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 Stable Clusters – Perform clustering and Cluster Head selection using the learned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 – Compare the proposed approach with existing methods using cluster stability and communication metrics.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ff2d663ff0f0d5052b26a725a5f3e955b67b71"/>
  <p:tag name="KSO_WM_NEWLAYOUT_ID" val="slide_a736eb13ee1e747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0842ee92fd1b5c5a331472865a9460fe861bc5"/>
  <p:tag name="KSO_WM_NEWLAYOUT_ID" val="slide_8f5439d4d48b1e8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3"/>
  <p:tag name="KSO_WM_UNIT_TYPE" val="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4"/>
  <p:tag name="KSO_WM_UNIT_TYPE" val="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5"/>
  <p:tag name="KSO_WM_UNIT_TYPE" val="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6"/>
  <p:tag name="KSO_WM_UNIT_TYPE" val="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TEMPLATE_SLIDE_ID" val="slide_a736eb13ee1e747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8ff2d663ff0f0d5052b26a725a5f3e955b67b71"/>
  <p:tag name="KSO_WM_NEWLAYOUT_ID" val="slide_a736eb13ee1e7479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TEMPLATE_SLIDE_ID" val="slide_8f5439d4d48b1e8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a0842ee92fd1b5c5a331472865a9460fe861bc5"/>
  <p:tag name="KSO_WM_NEWLAYOUT_ID" val="slide_8f5439d4d48b1e8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2"/>
  <p:tag name="KSO_WM_UNIT_TYPE" val="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3"/>
  <p:tag name="KSO_WM_UNIT_TYPE" val="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4"/>
  <p:tag name="KSO_WM_UNIT_TYPE" val="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5"/>
  <p:tag name="KSO_WM_UNIT_TYPE" val="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6"/>
  <p:tag name="KSO_WM_UNIT_TYPE" val="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711</Words>
  <Application>Microsoft Office PowerPoint</Application>
  <PresentationFormat>Widescreen</PresentationFormat>
  <Paragraphs>124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WPS</vt:lpstr>
      <vt:lpstr>GNN-BASED STABLE CLUSTERING FOR INTELLIGENT VEHICULAR NETWORKS</vt:lpstr>
      <vt:lpstr>Problem Statement</vt:lpstr>
      <vt:lpstr>Introduction to the Proposed Approach</vt:lpstr>
      <vt:lpstr>Key Objectives</vt:lpstr>
      <vt:lpstr>Expected Outcomes</vt:lpstr>
      <vt:lpstr>Challenges in Existing Systems</vt:lpstr>
      <vt:lpstr>Advantages of the Proposed GNN Approach</vt:lpstr>
      <vt:lpstr>Novelty and Impact</vt:lpstr>
      <vt:lpstr>Proposed Methodology</vt:lpstr>
      <vt:lpstr>       Methodology Flowchart &amp; Evaluation Plan</vt:lpstr>
      <vt:lpstr>Next Phase Objectives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GNN-BASED STABLE CLUSTERING FOR INTELLIGENT VEHICULAR NETWORKS</dc:title>
  <dc:creator>sindh</dc:creator>
  <cp:lastModifiedBy>Akshar Sunkari</cp:lastModifiedBy>
  <cp:revision>11</cp:revision>
  <dcterms:created xsi:type="dcterms:W3CDTF">2026-08-19T03:53:00Z</dcterms:created>
  <dcterms:modified xsi:type="dcterms:W3CDTF">2026-08-19T16:40:01Z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31EAA21D9B92412DB33DCE115FE0E688_13</vt:lpwstr>
  </property>
</Properties>
</file>